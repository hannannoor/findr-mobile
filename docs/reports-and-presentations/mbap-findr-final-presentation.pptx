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3" r:id="rId9"/>
    <p:sldId id="264" r:id="rId10"/>
    <p:sldId id="265" r:id="rId11"/>
    <p:sldId id="266" r:id="rId12"/>
    <p:sldId id="270" r:id="rId13"/>
    <p:sldId id="267" r:id="rId14"/>
    <p:sldId id="271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1371600"/>
            <a:ext cx="5852160" cy="5852160"/>
          </a:xfrm>
          <a:prstGeom prst="ellipse">
            <a:avLst/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3840480"/>
            <a:ext cx="4206240" cy="4206240"/>
          </a:xfrm>
          <a:prstGeom prst="ellipse">
            <a:avLst/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SG" sz="1050" b="1" dirty="0">
                <a:solidFill>
                  <a:srgbClr val="8FB4FF"/>
                </a:solidFill>
                <a:latin typeface="Calibri"/>
              </a:rPr>
              <a:t>MBAP</a:t>
            </a:r>
            <a:r>
              <a:rPr sz="1050" b="1" dirty="0">
                <a:solidFill>
                  <a:srgbClr val="8FB4FF"/>
                </a:solidFill>
                <a:latin typeface="Calibri"/>
              </a:rPr>
              <a:t>  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00784"/>
            <a:ext cx="7680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400" b="1">
                <a:solidFill>
                  <a:srgbClr val="FFFFFF"/>
                </a:solidFill>
                <a:latin typeface="Calibri"/>
              </a:rPr>
              <a:t>Findr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99232"/>
            <a:ext cx="6766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C2D4F5"/>
                </a:solidFill>
                <a:latin typeface="Calibri"/>
              </a:rPr>
              <a:t>A campus lost and found application for Temasek Polytechnic,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310128"/>
            <a:ext cx="6766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C2D4F5"/>
                </a:solidFill>
                <a:latin typeface="Calibri"/>
              </a:rPr>
              <a:t>built with Flutter and Cloud Firestore.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626864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E93BC"/>
                </a:solidFill>
                <a:latin typeface="Calibri"/>
              </a:rPr>
              <a:t>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64608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Hannan Noor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2656" y="4626864"/>
            <a:ext cx="219456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SG" sz="950" b="1" dirty="0">
                <a:solidFill>
                  <a:srgbClr val="7E93BC"/>
                </a:solidFill>
                <a:latin typeface="Calibri"/>
              </a:rPr>
              <a:t>Admin Number</a:t>
            </a:r>
            <a:r>
              <a:rPr sz="950" b="1" dirty="0">
                <a:solidFill>
                  <a:srgbClr val="7E93BC"/>
                </a:solidFill>
                <a:latin typeface="Calibri"/>
              </a:rPr>
              <a:t>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2656" y="4864608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XXXXXXXX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8384" y="4626864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E93BC"/>
                </a:solidFill>
                <a:latin typeface="Calibri"/>
              </a:rPr>
              <a:t>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8384" y="4864608"/>
            <a:ext cx="219456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dirty="0">
                <a:solidFill>
                  <a:srgbClr val="FFFFFF"/>
                </a:solidFill>
                <a:latin typeface="Calibri"/>
              </a:rPr>
              <a:t>PC</a:t>
            </a:r>
            <a:r>
              <a:rPr lang="en-SG" sz="1700" b="1" dirty="0">
                <a:solidFill>
                  <a:srgbClr val="FFFFFF"/>
                </a:solidFill>
                <a:latin typeface="Calibri"/>
              </a:rPr>
              <a:t>02</a:t>
            </a:r>
            <a:endParaRPr sz="17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047988" y="1120140"/>
            <a:ext cx="2245209" cy="4672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" name="Picture 16" descr="01-home-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0224" y="337412"/>
            <a:ext cx="2900392" cy="61831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46BE6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4213D"/>
                </a:solidFill>
                <a:latin typeface="Calibri"/>
              </a:rPr>
              <a:t>The Problem Findr Solves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 dirty="0">
                <a:solidFill>
                  <a:srgbClr val="6B7A99"/>
                </a:solidFill>
                <a:latin typeface="Calibri"/>
              </a:rPr>
              <a:t>Lost property at Temasek Polytechnic is scattered across Telegram channels, class chat groups and physical counters, so items and their owners rarely meet.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84831"/>
            <a:ext cx="3767328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7" y="2359151"/>
            <a:ext cx="365760" cy="365760"/>
          </a:xfrm>
          <a:prstGeom prst="ellipse">
            <a:avLst/>
          </a:prstGeom>
          <a:solidFill>
            <a:srgbClr val="E0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37743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213D"/>
                </a:solidFill>
                <a:latin typeface="Calibri"/>
              </a:rPr>
              <a:t>No single place to 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79776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B7A99"/>
                </a:solidFill>
                <a:latin typeface="Calibri"/>
              </a:rPr>
              <a:t>A student who finds a wallet posts it to whichever group they happen to be in, so the notice never reaches the owner.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08576" y="2084831"/>
            <a:ext cx="3767328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4882896" y="2359151"/>
            <a:ext cx="365760" cy="365760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37743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213D"/>
                </a:solidFill>
                <a:latin typeface="Calibri"/>
              </a:rPr>
              <a:t>No way to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896" y="2779776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B7A99"/>
                </a:solidFill>
                <a:latin typeface="Calibri"/>
              </a:rPr>
              <a:t>Someone who has lost something must scroll several chats by hand, and older messages cannot be searched at 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7600"/>
            <a:ext cx="3767328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1247" y="3931920"/>
            <a:ext cx="365760" cy="365760"/>
          </a:xfrm>
          <a:prstGeom prst="ellipse">
            <a:avLst/>
          </a:prstGeom>
          <a:solidFill>
            <a:srgbClr val="6D4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95020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213D"/>
                </a:solidFill>
                <a:latin typeface="Calibri"/>
              </a:rPr>
              <a:t>No proof of ownership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352544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B7A99"/>
                </a:solidFill>
                <a:latin typeface="Calibri"/>
              </a:rPr>
              <a:t>Nothing stops the wrong person from collecting an item, so finders are reluctant to hand anything over.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08576" y="3657600"/>
            <a:ext cx="3767328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4882896" y="3931920"/>
            <a:ext cx="365760" cy="365760"/>
          </a:xfrm>
          <a:prstGeom prst="ellipse">
            <a:avLst/>
          </a:prstGeom>
          <a:solidFill>
            <a:srgbClr val="3E8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395020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213D"/>
                </a:solidFill>
                <a:latin typeface="Calibri"/>
              </a:rPr>
              <a:t>No incentive to return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2896" y="4352544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B7A99"/>
                </a:solidFill>
                <a:latin typeface="Calibri"/>
              </a:rPr>
              <a:t>Handing an item in costs time and gains the finder nothing, so many items are simply left where they are.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13648" y="2084831"/>
            <a:ext cx="2999232" cy="2962656"/>
          </a:xfrm>
          <a:prstGeom prst="roundRect">
            <a:avLst>
              <a:gd name="adj" fmla="val 55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42832" y="239572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8FB4FF"/>
                </a:solidFill>
                <a:latin typeface="Calibri"/>
              </a:rPr>
              <a:t>TARGET AUDIENCE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5025" y="2971800"/>
            <a:ext cx="239572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 dirty="0">
                <a:solidFill>
                  <a:srgbClr val="B8CBEE"/>
                </a:solidFill>
                <a:latin typeface="Calibri"/>
              </a:rPr>
              <a:t>students and staff sharing one campus, one bus loop and one set of lecture theatres.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24544" y="4032503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dirty="0">
                <a:solidFill>
                  <a:srgbClr val="8FB4FF"/>
                </a:solidFill>
                <a:latin typeface="Calibri"/>
              </a:rPr>
              <a:t>One campus should have one board and one search.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38251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Findr  ·  Background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46BE6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4213D"/>
                </a:solidFill>
                <a:latin typeface="Calibri"/>
              </a:rPr>
              <a:t>What Findr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6B7A99"/>
                </a:solidFill>
                <a:latin typeface="Calibri"/>
              </a:rPr>
              <a:t>One board for the whole campus, with matching, verification and payment built around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29968"/>
            <a:ext cx="3767328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2286000"/>
            <a:ext cx="347472" cy="347472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2249424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Post a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54203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B7A99"/>
                </a:solidFill>
                <a:latin typeface="Calibri"/>
              </a:rPr>
              <a:t>A lost or found item with photo, details and a map pin.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08576" y="2029968"/>
            <a:ext cx="3767328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4864608" y="2286000"/>
            <a:ext cx="347472" cy="347472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0096" y="2249424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AI Item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0096" y="254203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B7A99"/>
                </a:solidFill>
                <a:latin typeface="Calibri"/>
              </a:rPr>
              <a:t>Describe what was lost; every open report is scored against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236976"/>
            <a:ext cx="3767328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60" y="3493008"/>
            <a:ext cx="347472" cy="347472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45643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Claim and 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749039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B7A99"/>
                </a:solidFill>
                <a:latin typeface="Calibri"/>
              </a:rPr>
              <a:t>The claimer proves ownership; the finder accepts or rejects.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08576" y="3236976"/>
            <a:ext cx="3767328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4864608" y="3493008"/>
            <a:ext cx="347472" cy="347472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345643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In-App Chat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096" y="3749039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B7A99"/>
                </a:solidFill>
                <a:latin typeface="Calibri"/>
              </a:rPr>
              <a:t>Arrange the handover without exchanging phone numbers.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443984"/>
            <a:ext cx="3767328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Oval 22"/>
          <p:cNvSpPr/>
          <p:nvPr/>
        </p:nvSpPr>
        <p:spPr>
          <a:xfrm>
            <a:off x="822960" y="4700016"/>
            <a:ext cx="347472" cy="347472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466344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NETS QR Reward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4956048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B7A99"/>
                </a:solidFill>
                <a:latin typeface="Calibri"/>
              </a:rPr>
              <a:t>A reward held in escrow until the item is actually returned.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08576" y="4443984"/>
            <a:ext cx="3767328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Oval 26"/>
          <p:cNvSpPr/>
          <p:nvPr/>
        </p:nvSpPr>
        <p:spPr>
          <a:xfrm>
            <a:off x="4864608" y="4700016"/>
            <a:ext cx="347472" cy="347472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0096" y="466344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Campus 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0096" y="4956048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B7A99"/>
                </a:solidFill>
                <a:latin typeface="Calibri"/>
              </a:rPr>
              <a:t>Every report as a pin, so students see what was lost near them.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46236" y="1979676"/>
            <a:ext cx="1852970" cy="3803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1" name="Picture 30" descr="02-report-details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528" y="902281"/>
            <a:ext cx="2286000" cy="483100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926175" y="5838609"/>
            <a:ext cx="2026706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950" b="0" dirty="0">
                <a:solidFill>
                  <a:srgbClr val="6B7A99"/>
                </a:solidFill>
                <a:latin typeface="Calibri"/>
              </a:rPr>
              <a:t>Example of a Report</a:t>
            </a:r>
            <a:endParaRPr sz="950" b="0" dirty="0">
              <a:solidFill>
                <a:srgbClr val="6B7A99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66928" y="638251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Findr  ·  Overview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46BE6"/>
                </a:solidFill>
                <a:latin typeface="Calibri"/>
              </a:rPr>
              <a:t>PART 2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4213D"/>
                </a:solidFill>
                <a:latin typeface="Calibri"/>
              </a:rPr>
              <a:t>User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6B7A99"/>
                </a:solidFill>
                <a:latin typeface="Calibri"/>
              </a:rPr>
              <a:t>Firebase Authentication provides the full basic set, plus two account management features and two sign-in methods that were not covered in class.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" y="1961388"/>
            <a:ext cx="1890285" cy="4032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07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011680"/>
            <a:ext cx="1789701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062472"/>
            <a:ext cx="206402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Google and GitHub sign-in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2121408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03120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Basic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45436"/>
            <a:ext cx="42976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Register, log in, log out and forgot password, each with validation and SnackBar feedback.</a:t>
            </a:r>
          </a:p>
        </p:txBody>
      </p:sp>
      <p:sp>
        <p:nvSpPr>
          <p:cNvPr id="12" name="Oval 11"/>
          <p:cNvSpPr/>
          <p:nvPr/>
        </p:nvSpPr>
        <p:spPr>
          <a:xfrm>
            <a:off x="3200400" y="2907791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889503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Email verification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131820"/>
            <a:ext cx="42976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An unverified account cannot reach the app, and the mail can be resent on request.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0" y="3694175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675887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Change password and delete account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918203"/>
            <a:ext cx="42976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Handled in Profile; deleting an account also removes that user's reports.</a:t>
            </a:r>
          </a:p>
        </p:txBody>
      </p:sp>
      <p:sp>
        <p:nvSpPr>
          <p:cNvPr id="18" name="Oval 17"/>
          <p:cNvSpPr/>
          <p:nvPr/>
        </p:nvSpPr>
        <p:spPr>
          <a:xfrm>
            <a:off x="3200400" y="4480559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462272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Google Sign-In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704588"/>
            <a:ext cx="42976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OAuth through the google_sign_in package. Not taught in class.</a:t>
            </a:r>
          </a:p>
        </p:txBody>
      </p:sp>
      <p:sp>
        <p:nvSpPr>
          <p:cNvPr id="21" name="Oval 20"/>
          <p:cNvSpPr/>
          <p:nvPr/>
        </p:nvSpPr>
        <p:spPr>
          <a:xfrm>
            <a:off x="3200400" y="5266944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248656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GitHub Sign-In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490972"/>
            <a:ext cx="42976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A second external provider through Firebase OAuth. Also not taught in class.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24544" y="31272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38251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Findr  ·  Authentication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46BE6"/>
                </a:solidFill>
                <a:latin typeface="Calibri"/>
              </a:rPr>
              <a:t>DATA PERSISTENCY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4213D"/>
                </a:solidFill>
                <a:latin typeface="Calibri"/>
              </a:rPr>
              <a:t>One Full CRUD Set on Item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6B7A99"/>
                </a:solidFill>
                <a:latin typeface="Calibri"/>
              </a:rPr>
              <a:t>Reports are the core domain object, so all five Cloud Firestore operations act on that one collection.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75104"/>
            <a:ext cx="2065263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804672" y="2194560"/>
            <a:ext cx="365760" cy="365760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49424"/>
            <a:ext cx="11508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213D"/>
                </a:solidFill>
                <a:latin typeface="Calibri"/>
              </a:rPr>
              <a:t>Insert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724912"/>
            <a:ext cx="160806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B7A99"/>
                </a:solidFill>
                <a:latin typeface="Calibri"/>
              </a:rPr>
              <a:t>A four step form writes one document with addReport().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15071" y="1975104"/>
            <a:ext cx="2065263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3052815" y="2194560"/>
            <a:ext cx="365760" cy="365760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8303" y="2249424"/>
            <a:ext cx="11508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213D"/>
                </a:solidFill>
                <a:latin typeface="Calibri"/>
              </a:rPr>
              <a:t>Select 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2815" y="2724912"/>
            <a:ext cx="160806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B7A99"/>
                </a:solidFill>
                <a:latin typeface="Calibri"/>
              </a:rPr>
              <a:t>A StreamProvider watches the collection, newest first.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3215" y="1975104"/>
            <a:ext cx="2065263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5300959" y="2194560"/>
            <a:ext cx="365760" cy="365760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6447" y="2249424"/>
            <a:ext cx="11508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213D"/>
                </a:solidFill>
                <a:latin typeface="Calibri"/>
              </a:rPr>
              <a:t>Select 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0959" y="2724912"/>
            <a:ext cx="160806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B7A99"/>
                </a:solidFill>
                <a:latin typeface="Calibri"/>
              </a:rPr>
              <a:t>A family provider streams a single document by its id.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75104"/>
            <a:ext cx="2065263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7549103" y="2194560"/>
            <a:ext cx="365760" cy="365760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4591" y="2249424"/>
            <a:ext cx="11508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213D"/>
                </a:solidFill>
                <a:latin typeface="Calibri"/>
              </a:rPr>
              <a:t>Update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9103" y="2724912"/>
            <a:ext cx="160806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B7A99"/>
                </a:solidFill>
                <a:latin typeface="Calibri"/>
              </a:rPr>
              <a:t>Edit rewrites the document; resolving changes status alone.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9503" y="1975104"/>
            <a:ext cx="2065263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Oval 22"/>
          <p:cNvSpPr/>
          <p:nvPr/>
        </p:nvSpPr>
        <p:spPr>
          <a:xfrm>
            <a:off x="9797247" y="2194560"/>
            <a:ext cx="365760" cy="365760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72735" y="2249424"/>
            <a:ext cx="11508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213D"/>
                </a:solidFill>
                <a:latin typeface="Calibri"/>
              </a:rPr>
              <a:t>Delete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7247" y="2724912"/>
            <a:ext cx="160806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B7A99"/>
                </a:solidFill>
                <a:latin typeface="Calibri"/>
              </a:rPr>
              <a:t>Removes the report with its claims and chats in one batch.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31036" y="3552444"/>
            <a:ext cx="1268974" cy="2587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7" name="Picture 26" descr="05-post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3602736"/>
            <a:ext cx="1168390" cy="24871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44168" y="620877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 dirty="0">
                <a:solidFill>
                  <a:srgbClr val="6B7A99"/>
                </a:solidFill>
                <a:latin typeface="Calibri"/>
              </a:rPr>
              <a:t>Insert  ·  review and submit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77156" y="3552444"/>
            <a:ext cx="1328243" cy="2587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0" name="Picture 29" descr="08-edit-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3602736"/>
            <a:ext cx="1227659" cy="24871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590288" y="620877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Update  ·  edit a report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23275" y="3552444"/>
            <a:ext cx="1261840" cy="2587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3" name="Picture 32" descr="06-my-repor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7" y="3602736"/>
            <a:ext cx="1161256" cy="24871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836407" y="620877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Select and delete  ·  My Reports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38251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Findr  ·  CRUD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46BE6"/>
                </a:solidFill>
                <a:latin typeface="Calibri"/>
              </a:rPr>
              <a:t>DATA PERSISTENCY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4213D"/>
                </a:solidFill>
                <a:latin typeface="Calibri"/>
              </a:rPr>
              <a:t>Advanced Firestore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6B7A99"/>
                </a:solidFill>
                <a:latin typeface="Calibri"/>
              </a:rPr>
              <a:t>The filter sheet composes a real Firestore query rather than filtering a downloaded list, which covers all five categories of advanced selection.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11680"/>
            <a:ext cx="763524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804672" y="2212848"/>
            <a:ext cx="347472" cy="347472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3055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4213D"/>
                </a:solidFill>
                <a:latin typeface="Calibri"/>
              </a:rPr>
              <a:t>Filter on a non-identifier 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1401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6B7A99"/>
                </a:solidFill>
                <a:latin typeface="Calibri"/>
              </a:rPr>
              <a:t>Selects by a property of the item rather than by its document 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74336" y="2276856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246BE6"/>
                </a:solidFill>
                <a:latin typeface="Courier New"/>
              </a:rPr>
              <a:t>where('reportType', isEqualTo: 'Lost')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71216"/>
            <a:ext cx="763524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804672" y="3072384"/>
            <a:ext cx="347472" cy="347472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9008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4213D"/>
                </a:solidFill>
                <a:latin typeface="Calibri"/>
              </a:rPr>
              <a:t>Multiple criteria on the same field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7355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6B7A99"/>
                </a:solidFill>
                <a:latin typeface="Calibri"/>
              </a:rPr>
              <a:t>Several categories are matched at once inside a single query.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4336" y="313639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246BE6"/>
                </a:solidFill>
                <a:latin typeface="Courier New"/>
              </a:rPr>
              <a:t>where('category', whereIn: [...])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30752"/>
            <a:ext cx="763524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804672" y="3931920"/>
            <a:ext cx="347472" cy="347472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849624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4213D"/>
                </a:solidFill>
                <a:latin typeface="Calibri"/>
              </a:rPr>
              <a:t>Multiple criteria on different fields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13308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6B7A99"/>
                </a:solidFill>
                <a:latin typeface="Calibri"/>
              </a:rPr>
              <a:t>Chained clauses combine four independent fields.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4336" y="3995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246BE6"/>
                </a:solidFill>
                <a:latin typeface="Courier New"/>
              </a:rPr>
              <a:t>where(type).where(category).where(status)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590288"/>
            <a:ext cx="763524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4672" y="4791455"/>
            <a:ext cx="347472" cy="347472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709159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4213D"/>
                </a:solidFill>
                <a:latin typeface="Calibri"/>
              </a:rPr>
              <a:t>Sort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992624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6B7A99"/>
                </a:solidFill>
                <a:latin typeface="Calibri"/>
              </a:rPr>
              <a:t>Drives the newest first and oldest first options in the sheet.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4336" y="4855464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246BE6"/>
                </a:solidFill>
                <a:latin typeface="Courier New"/>
              </a:rPr>
              <a:t>orderBy('createdAt', descending: true)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449824"/>
            <a:ext cx="763524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Oval 26"/>
          <p:cNvSpPr/>
          <p:nvPr/>
        </p:nvSpPr>
        <p:spPr>
          <a:xfrm>
            <a:off x="804672" y="5650992"/>
            <a:ext cx="347472" cy="347472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56869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4213D"/>
                </a:solidFill>
                <a:latin typeface="Calibri"/>
              </a:rPr>
              <a:t>Aggregation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85216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6B7A99"/>
                </a:solidFill>
                <a:latin typeface="Calibri"/>
              </a:rPr>
              <a:t>Returns the number of matches from the server without downloading the documents.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74336" y="571500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246BE6"/>
                </a:solidFill>
                <a:latin typeface="Courier New"/>
              </a:rPr>
              <a:t>count().get()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38251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Findr  ·  Advanced Queries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29700" y="1997964"/>
            <a:ext cx="1907350" cy="3849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7" name="Picture 36" descr="8232df3f-2296-4f5e-a8bc-8a08f88c0eea-1786284302676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2048256"/>
            <a:ext cx="1806766" cy="374903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805672" y="5916168"/>
            <a:ext cx="2355406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The filter sheet, with the live Firestore 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46BE6"/>
                </a:solidFill>
                <a:latin typeface="Calibri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4213D"/>
                </a:solidFill>
                <a:latin typeface="Calibri"/>
              </a:rPr>
              <a:t>The Firestore Data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9509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6B7A99"/>
                </a:solidFill>
                <a:latin typeface="Calibri"/>
              </a:rPr>
              <a:t>Four collections hold the application data, spread across four real accounts so claims and conversations run between genuine users rather than placeholders.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48256"/>
            <a:ext cx="2613583" cy="14813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249424"/>
            <a:ext cx="2064943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>
                <a:solidFill>
                  <a:srgbClr val="246BE6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852928"/>
            <a:ext cx="20649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145536"/>
            <a:ext cx="2064943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6B7A99"/>
                </a:solidFill>
                <a:latin typeface="Calibri"/>
              </a:rPr>
              <a:t>Lost, found, claimed and resolved items.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1679" y="2048256"/>
            <a:ext cx="2613583" cy="14813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5999" y="2249424"/>
            <a:ext cx="2064943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>
                <a:solidFill>
                  <a:srgbClr val="246BE6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5999" y="2852928"/>
            <a:ext cx="20649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5999" y="3145536"/>
            <a:ext cx="2064943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6B7A99"/>
                </a:solidFill>
                <a:latin typeface="Calibri"/>
              </a:rPr>
              <a:t>One accepted and one still pending.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2048256"/>
            <a:ext cx="2613583" cy="14813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0751" y="2249424"/>
            <a:ext cx="2064943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>
                <a:solidFill>
                  <a:srgbClr val="246BE6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0751" y="2852928"/>
            <a:ext cx="20649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conversations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0751" y="3145536"/>
            <a:ext cx="2064943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6B7A99"/>
                </a:solidFill>
                <a:latin typeface="Calibri"/>
              </a:rPr>
              <a:t>Messages held in a subcollection.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1183" y="2048256"/>
            <a:ext cx="2613583" cy="14813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5503" y="2249424"/>
            <a:ext cx="2064943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>
                <a:solidFill>
                  <a:srgbClr val="246BE6"/>
                </a:solidFill>
                <a:latin typeface="Calibri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5503" y="2852928"/>
            <a:ext cx="20649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5503" y="3145536"/>
            <a:ext cx="2064943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6B7A99"/>
                </a:solidFill>
                <a:latin typeface="Calibri"/>
              </a:rPr>
              <a:t>Six alert types, read and unread.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03904"/>
            <a:ext cx="6903720" cy="19568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" y="4041648"/>
            <a:ext cx="6309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4213D"/>
                </a:solidFill>
                <a:latin typeface="Calibri"/>
              </a:rPr>
              <a:t>Every report document carries</a:t>
            </a:r>
          </a:p>
        </p:txBody>
      </p:sp>
      <p:sp>
        <p:nvSpPr>
          <p:cNvPr id="24" name="Oval 23"/>
          <p:cNvSpPr/>
          <p:nvPr/>
        </p:nvSpPr>
        <p:spPr>
          <a:xfrm>
            <a:off x="859536" y="4471416"/>
            <a:ext cx="91440" cy="91440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8992" y="440740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B7A99"/>
                </a:solidFill>
                <a:latin typeface="Calibri"/>
              </a:rPr>
              <a:t>name, category, colour, brand, condition</a:t>
            </a:r>
          </a:p>
        </p:txBody>
      </p:sp>
      <p:sp>
        <p:nvSpPr>
          <p:cNvPr id="26" name="Oval 25"/>
          <p:cNvSpPr/>
          <p:nvPr/>
        </p:nvSpPr>
        <p:spPr>
          <a:xfrm>
            <a:off x="4151376" y="4471416"/>
            <a:ext cx="91440" cy="91440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70832" y="440740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B7A99"/>
                </a:solidFill>
                <a:latin typeface="Calibri"/>
              </a:rPr>
              <a:t>description and free text location</a:t>
            </a:r>
          </a:p>
        </p:txBody>
      </p:sp>
      <p:sp>
        <p:nvSpPr>
          <p:cNvPr id="28" name="Oval 27"/>
          <p:cNvSpPr/>
          <p:nvPr/>
        </p:nvSpPr>
        <p:spPr>
          <a:xfrm>
            <a:off x="859536" y="4855464"/>
            <a:ext cx="91440" cy="91440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78992" y="479145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B7A99"/>
                </a:solidFill>
                <a:latin typeface="Calibri"/>
              </a:rPr>
              <a:t>latitude and longitude for the campus map</a:t>
            </a:r>
          </a:p>
        </p:txBody>
      </p:sp>
      <p:sp>
        <p:nvSpPr>
          <p:cNvPr id="30" name="Oval 29"/>
          <p:cNvSpPr/>
          <p:nvPr/>
        </p:nvSpPr>
        <p:spPr>
          <a:xfrm>
            <a:off x="4151376" y="4855464"/>
            <a:ext cx="91440" cy="91440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70832" y="479145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B7A99"/>
                </a:solidFill>
                <a:latin typeface="Calibri"/>
              </a:rPr>
              <a:t>reportType, reportStatus and timestamps</a:t>
            </a:r>
          </a:p>
        </p:txBody>
      </p:sp>
      <p:sp>
        <p:nvSpPr>
          <p:cNvPr id="32" name="Oval 31"/>
          <p:cNvSpPr/>
          <p:nvPr/>
        </p:nvSpPr>
        <p:spPr>
          <a:xfrm>
            <a:off x="859536" y="5239512"/>
            <a:ext cx="91440" cy="91440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78992" y="517550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B7A99"/>
                </a:solidFill>
                <a:latin typeface="Calibri"/>
              </a:rPr>
              <a:t>the photo, stored as Base64 in the document</a:t>
            </a:r>
          </a:p>
        </p:txBody>
      </p:sp>
      <p:sp>
        <p:nvSpPr>
          <p:cNvPr id="34" name="Oval 33"/>
          <p:cNvSpPr/>
          <p:nvPr/>
        </p:nvSpPr>
        <p:spPr>
          <a:xfrm>
            <a:off x="4151376" y="5239512"/>
            <a:ext cx="91440" cy="91440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70832" y="517550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B7A99"/>
                </a:solidFill>
                <a:latin typeface="Calibri"/>
              </a:rPr>
              <a:t>reward, escrow state and payment reference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99248" y="3803904"/>
            <a:ext cx="3922776" cy="1956816"/>
          </a:xfrm>
          <a:prstGeom prst="roundRect">
            <a:avLst>
              <a:gd name="adj" fmla="val 55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10144" y="4041648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8FB4FF"/>
                </a:solidFill>
                <a:latin typeface="Calibri"/>
              </a:rPr>
              <a:t>WHY IT IS FULLY POPULATED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0144" y="4389120"/>
            <a:ext cx="3310128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B8CBEE"/>
                </a:solidFill>
                <a:latin typeface="Calibri"/>
              </a:rPr>
              <a:t>Sparse data hides bugs. Filling every field, across four accounts and every report state, is what surfaced the claim, chat and reward flows during testing.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38251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Findr  · 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46BE6"/>
                </a:solidFill>
                <a:latin typeface="Calibri"/>
              </a:rPr>
              <a:t>APPLIED AI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4213D"/>
                </a:solidFill>
                <a:latin typeface="Calibri"/>
              </a:rPr>
              <a:t>AI Item Matching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6B7A99"/>
                </a:solidFill>
                <a:latin typeface="Calibri"/>
              </a:rPr>
              <a:t>A student describes what they lost, and Findr scores every open report against that description before explaining why each one matched.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2066544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048256"/>
            <a:ext cx="6217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Weighted scoring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290572"/>
            <a:ext cx="6217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Eight signals weighted by how strongly they identify an object: category 22, colour 18, item name 16, location 14, brand 10, description 10, date 6, condition 4.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2889504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871216"/>
            <a:ext cx="6217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Fuzzy text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113532"/>
            <a:ext cx="6217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Levenshtein distance, fifteen synonym groups and word overlap let “earphones” match “ear phones” and “AirPod”.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3712463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694176"/>
            <a:ext cx="6217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Identity guard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36491"/>
            <a:ext cx="6217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A score is capped at 35 when nothing actually identifies the item, so a wallet cannot match a bottle on shared category alone. The threshold to report a match is 38.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4535424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517136"/>
            <a:ext cx="6217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Language model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759452"/>
            <a:ext cx="6217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Groq llama-3.1-8b-instant re-ranks the shortlist and writes the plain English reason shown on each result card.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5358383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5340096"/>
            <a:ext cx="6217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Graceful 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5582412"/>
            <a:ext cx="6217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If the model is unreachable the local engine still returns ranked results, so the feature never fails outright.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20940" y="1997964"/>
            <a:ext cx="1915852" cy="3803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2" name="Picture 21" descr="09-ai-search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231" y="2048256"/>
            <a:ext cx="1815268" cy="3703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34071" y="5870448"/>
            <a:ext cx="20895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Describe the item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52076" y="1997964"/>
            <a:ext cx="1922100" cy="3803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5" name="Picture 24" descr="10-ai-match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368" y="2048256"/>
            <a:ext cx="1821516" cy="3703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65208" y="5870448"/>
            <a:ext cx="20958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Ranked, explained matches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38251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Findr  ·  Applied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46BE6"/>
                </a:solidFill>
                <a:latin typeface="Calibri"/>
              </a:rPr>
              <a:t>ENHANCED NETS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4213D"/>
                </a:solidFill>
                <a:latin typeface="Calibri"/>
              </a:rPr>
              <a:t>NETS QR Reward Escrow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6B7A99"/>
                </a:solidFill>
                <a:latin typeface="Calibri"/>
              </a:rPr>
              <a:t>A reward only works if the finder trusts it will be paid and the owner trusts it will not be taken early, so Findr holds it in escrow between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11680"/>
            <a:ext cx="1410004" cy="14813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" y="2212848"/>
            <a:ext cx="365760" cy="365760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670048"/>
            <a:ext cx="11905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4213D"/>
                </a:solidFill>
                <a:latin typeface="Calibri"/>
              </a:rPr>
              <a:t>Offer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944368"/>
            <a:ext cx="119054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The owner attaches a reward when posting the lost item.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23236" y="2011680"/>
            <a:ext cx="1410004" cy="14813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2645359" y="2212848"/>
            <a:ext cx="365760" cy="365760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2964" y="2670048"/>
            <a:ext cx="11905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4213D"/>
                </a:solidFill>
                <a:latin typeface="Calibri"/>
              </a:rPr>
              <a:t>Secure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2964" y="2944368"/>
            <a:ext cx="119054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NETS QR takes the payment and Findr holds it in escrow.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79545" y="2011680"/>
            <a:ext cx="1410004" cy="14813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4201668" y="2212848"/>
            <a:ext cx="365760" cy="365760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9273" y="2670048"/>
            <a:ext cx="11905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4213D"/>
                </a:solidFill>
                <a:latin typeface="Calibri"/>
              </a:rPr>
              <a:t>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9273" y="2944368"/>
            <a:ext cx="119054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Only then is the report shown as ready to claim.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35854" y="2011680"/>
            <a:ext cx="1410004" cy="14813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57976" y="2212848"/>
            <a:ext cx="365760" cy="365760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5582" y="2670048"/>
            <a:ext cx="11905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4213D"/>
                </a:solidFill>
                <a:latin typeface="Calibri"/>
              </a:rPr>
              <a:t>Return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5582" y="2944368"/>
            <a:ext cx="119054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The finder hands the item over in person.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92163" y="2011680"/>
            <a:ext cx="1410004" cy="14813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Oval 22"/>
          <p:cNvSpPr/>
          <p:nvPr/>
        </p:nvSpPr>
        <p:spPr>
          <a:xfrm>
            <a:off x="7314285" y="2212848"/>
            <a:ext cx="365760" cy="365760"/>
          </a:xfrm>
          <a:prstGeom prst="ellipse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1891" y="2670048"/>
            <a:ext cx="11905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4213D"/>
                </a:solidFill>
                <a:latin typeface="Calibri"/>
              </a:rPr>
              <a:t>Release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1891" y="2944368"/>
            <a:ext cx="119054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The owner releases the reward from the report screen.</a:t>
            </a:r>
          </a:p>
        </p:txBody>
      </p:sp>
      <p:sp>
        <p:nvSpPr>
          <p:cNvPr id="26" name="Oval 25"/>
          <p:cNvSpPr/>
          <p:nvPr/>
        </p:nvSpPr>
        <p:spPr>
          <a:xfrm>
            <a:off x="566928" y="3822191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3803904"/>
            <a:ext cx="7132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Sandbox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4046220"/>
            <a:ext cx="7132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RequestAPI generates the code, the S2S webhook streams updates over SSE, and QueryAPI confirms the outcome.</a:t>
            </a:r>
          </a:p>
        </p:txBody>
      </p:sp>
      <p:sp>
        <p:nvSpPr>
          <p:cNvPr id="29" name="Oval 28"/>
          <p:cNvSpPr/>
          <p:nvPr/>
        </p:nvSpPr>
        <p:spPr>
          <a:xfrm>
            <a:off x="566928" y="4736592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4718304"/>
            <a:ext cx="7132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Verifying properly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4960620"/>
            <a:ext cx="7132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A scanned code only means the wallet read it, so Findr polls QueryAPI until the transaction really settles rather than declaring success early.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90204" y="1961388"/>
            <a:ext cx="1728705" cy="34107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3" name="Picture 32" descr="11-nets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496" y="2011680"/>
            <a:ext cx="1628121" cy="331012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403336" y="54406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QR with expiry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27564" y="1961388"/>
            <a:ext cx="1721007" cy="34107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6" name="Picture 35" descr="12-nets-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856" y="2011680"/>
            <a:ext cx="1620423" cy="331012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140696" y="54406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Confirmed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38251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Findr  ·  NETS QR Payment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46BE6"/>
                </a:solidFill>
                <a:latin typeface="Calibri"/>
              </a:rPr>
              <a:t>ADDITIONAL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4213D"/>
                </a:solidFill>
                <a:latin typeface="Calibri"/>
              </a:rPr>
              <a:t>Campus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6B7A99"/>
                </a:solidFill>
                <a:latin typeface="Calibri"/>
              </a:rPr>
              <a:t>Location is the most useful clue about a lost item, so every report carries a pin and the whole campus can be browsed at once.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2066544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048256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flutter_map with OpenStreetMap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290572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Free tiles, no API key and no billing account, which also satisfies the rule against paid services such as Google Maps.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2889504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871216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A pin is compulsory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113532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The posting form will not advance until a pin is dropped, so the map is never sparse.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3712463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694176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Nine campus locations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36491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The Library Learning Hub, Horseshoe Plaza, Short Circuit and others are one tap presets.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4535424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517136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Bounded to campus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759452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Panning and pin placement are clamped to Temasek Polytechnic, so a pin cannot drift off site.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5358383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5340096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Tap to open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5582412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Each pin carries the item photo, and tapping it opens a card that leads to the full report.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54396" y="1997964"/>
            <a:ext cx="1909282" cy="3803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2" name="Picture 21" descr="16-campus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2048256"/>
            <a:ext cx="1808698" cy="3703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67527" y="5870448"/>
            <a:ext cx="20830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Reports across campus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5532" y="1997964"/>
            <a:ext cx="1915683" cy="3803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5" name="Picture 24" descr="17-map-pin-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4" y="2048256"/>
            <a:ext cx="1815099" cy="3703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598664" y="5870448"/>
            <a:ext cx="20894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Tap a pin for the item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16668" y="1997964"/>
            <a:ext cx="1824468" cy="3803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8" name="Picture 27" descr="04-post-map-pic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2048256"/>
            <a:ext cx="1723884" cy="3703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829800" y="5870448"/>
            <a:ext cx="19982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Dropping a pin when posting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8251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Findr  ·  Additional 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46BE6"/>
                </a:solidFill>
                <a:latin typeface="Calibri"/>
              </a:rPr>
              <a:t>ADDITIONAL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4213D"/>
                </a:solidFill>
                <a:latin typeface="Calibri"/>
              </a:rPr>
              <a:t>In-App Chat and 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6B7A99"/>
                </a:solidFill>
                <a:latin typeface="Calibri"/>
              </a:rPr>
              <a:t>Once two students are matched they need to talk, and both need to know when something has happened.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2066544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048256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Deterministic conversations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290572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A conversation id is built from the report and the two sorted user ids, so the same pair always lands in the same thread.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2889504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871216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Atomic message writes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113532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One batch writes the message, updates the conversation preview and increments the other person's unread counter together.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3712463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694176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No numbers exchanged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36491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Students arrange a handover without giving out a phone number, which matters when strangers meet over a lost wallet.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4535424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517136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Local notifications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759452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flutter_local_notifications raises a device alert, with a toggle in Settings to turn it off.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5358383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5340096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In-app inbox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5582412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Six alert types covering claims, decisions, messages, rewards and AI matches, each with read and unread state.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54396" y="1997964"/>
            <a:ext cx="1939325" cy="3803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2" name="Picture 21" descr="13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2048256"/>
            <a:ext cx="1838741" cy="3703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67527" y="5870448"/>
            <a:ext cx="211306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Arranging a handover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5532" y="1997964"/>
            <a:ext cx="1932843" cy="3803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5" name="Picture 24" descr="14-mess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4" y="2048256"/>
            <a:ext cx="1832259" cy="3703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598664" y="5870448"/>
            <a:ext cx="21065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Conversation list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16668" y="1997964"/>
            <a:ext cx="1838262" cy="3803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8" name="Picture 27" descr="03-report-details-rew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2048256"/>
            <a:ext cx="1737678" cy="3703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829800" y="5870448"/>
            <a:ext cx="201199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Claims on a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8251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Findr  ·  Additional 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46BE6"/>
                </a:solidFill>
                <a:latin typeface="Calibri"/>
              </a:rPr>
              <a:t>ADDITIONAL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4213D"/>
                </a:solidFill>
                <a:latin typeface="Calibri"/>
              </a:rPr>
              <a:t>Six Additional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6B7A99"/>
                </a:solidFill>
                <a:latin typeface="Calibri"/>
              </a:rPr>
              <a:t>Two simple features drawn from the topics taught in class, and four advanced features built on packages beyond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75104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3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3E8E6B"/>
                </a:solidFill>
                <a:latin typeface="Calibri"/>
              </a:rPr>
              <a:t>SIMPLE  ·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95728"/>
            <a:ext cx="507492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60" y="2633472"/>
            <a:ext cx="347472" cy="347472"/>
          </a:xfrm>
          <a:prstGeom prst="ellipse">
            <a:avLst/>
          </a:prstGeom>
          <a:solidFill>
            <a:srgbClr val="3E8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67004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Enhanced NETS QR Payment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54096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B7A99"/>
                </a:solidFill>
                <a:latin typeface="Calibri"/>
              </a:rPr>
              <a:t>A reward is held in escrow through the NETS sandbox until the item is returned, with QueryAPI polled until the transaction actually settles.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877056"/>
            <a:ext cx="507492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2960" y="4114800"/>
            <a:ext cx="347472" cy="347472"/>
          </a:xfrm>
          <a:prstGeom prst="ellipse">
            <a:avLst/>
          </a:prstGeom>
          <a:solidFill>
            <a:srgbClr val="3E8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151376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Image Upload from Camera or Gallery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35424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B7A99"/>
                </a:solidFill>
                <a:latin typeface="Calibri"/>
              </a:rPr>
              <a:t>image_picker captures or selects a photo, which is compressed and stored as Base64 in Firestore, because Cloud Storage needs a paid plan.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97510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B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6D48D7"/>
                </a:solidFill>
                <a:latin typeface="Calibri"/>
              </a:rPr>
              <a:t>ADVANCED  · 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53328" y="2395728"/>
            <a:ext cx="5568696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09360" y="2633472"/>
            <a:ext cx="347472" cy="347472"/>
          </a:xfrm>
          <a:prstGeom prst="ellipse">
            <a:avLst/>
          </a:prstGeom>
          <a:solidFill>
            <a:srgbClr val="6D4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255117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4213D"/>
                </a:solidFill>
                <a:latin typeface="Calibri"/>
              </a:rPr>
              <a:t>Campus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6528" y="2578608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flutter_map with OpenStreetMap tiles. A pin is compulsory when posting, so every report is placed.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3328" y="3364992"/>
            <a:ext cx="5568696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09360" y="3602736"/>
            <a:ext cx="347472" cy="347472"/>
          </a:xfrm>
          <a:prstGeom prst="ellipse">
            <a:avLst/>
          </a:prstGeom>
          <a:solidFill>
            <a:srgbClr val="6D4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352044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4213D"/>
                </a:solidFill>
                <a:latin typeface="Calibri"/>
              </a:rPr>
              <a:t>In-App 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3547872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Live conversations in Firestore with per-user unread counters, so no phone numbers are exchanged.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4334256"/>
            <a:ext cx="5568696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09360" y="4572000"/>
            <a:ext cx="347472" cy="347472"/>
          </a:xfrm>
          <a:prstGeom prst="ellipse">
            <a:avLst/>
          </a:prstGeom>
          <a:solidFill>
            <a:srgbClr val="6D4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4489704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4213D"/>
                </a:solidFill>
                <a:latin typeface="Calibri"/>
              </a:rPr>
              <a:t>Local Notifications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96528" y="4517136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flutter_local_notifications device alerts, plus an in-app inbox covering six alert types.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53328" y="5303520"/>
            <a:ext cx="5568696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Oval 28"/>
          <p:cNvSpPr/>
          <p:nvPr/>
        </p:nvSpPr>
        <p:spPr>
          <a:xfrm>
            <a:off x="6309360" y="5541264"/>
            <a:ext cx="347472" cy="347472"/>
          </a:xfrm>
          <a:prstGeom prst="ellipse">
            <a:avLst/>
          </a:prstGeom>
          <a:solidFill>
            <a:srgbClr val="6D4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545896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4213D"/>
                </a:solidFill>
                <a:latin typeface="Calibri"/>
              </a:rPr>
              <a:t>Biometric Authentication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96528" y="548640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local_auth adds a fingerprint gate on top of the Firebase account sign-in.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504688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Every one of the six is functional and demonstrated in the recording.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38251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Findr  ·  Additional Features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46BE6"/>
                </a:solidFill>
                <a:latin typeface="Calibri"/>
              </a:rPr>
              <a:t>PERSONALISATION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4213D"/>
                </a:solidFill>
                <a:latin typeface="Calibri"/>
              </a:rPr>
              <a:t>Themes, Dark Mode and Biometrics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6B7A99"/>
                </a:solidFill>
                <a:latin typeface="Calibri"/>
              </a:rPr>
              <a:t>Every colour in Findr is read from a theme object, so the whole application restyles itself rather than only the settings page.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2121408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103120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Four colour palettes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345436"/>
            <a:ext cx="4160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Blue, Lavender, Mint and Sunset, each defining its own full set of surface, border and text colours.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035808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017520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Light and dark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259836"/>
            <a:ext cx="4160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Both are complete across every screen, including the map header and the illustrated backgrounds.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3950207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931920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Choices are remembered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4174235"/>
            <a:ext cx="4160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shared_preferences stores the palette, the mode and the alert settings between launches.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4864607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846320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Biometric 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5088636"/>
            <a:ext cx="4160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local_auth guards the app with a fingerprint on device, and reports honestly that it is unavailable in a browser.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54396" y="1997964"/>
            <a:ext cx="1963021" cy="3803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Picture 18" descr="18-settings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2048256"/>
            <a:ext cx="1862437" cy="3703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67527" y="5870448"/>
            <a:ext cx="213675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Settings in dark mode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5532" y="1997964"/>
            <a:ext cx="1920134" cy="3803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2" name="Picture 21" descr="19-theme-pi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4" y="2048256"/>
            <a:ext cx="1819550" cy="3703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598664" y="5870448"/>
            <a:ext cx="209387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Four palettes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16668" y="1997964"/>
            <a:ext cx="1799962" cy="3803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5" name="Picture 24" descr="20-biometr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2048256"/>
            <a:ext cx="1699378" cy="3703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829800" y="5870448"/>
            <a:ext cx="197369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Fingerprint authentication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38251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Findr  ·  Personalisation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46BE6"/>
                </a:solidFill>
                <a:latin typeface="Calibri"/>
              </a:rPr>
              <a:t>PERSONALISATION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4213D"/>
                </a:solidFill>
                <a:latin typeface="Calibri"/>
              </a:rPr>
              <a:t>App Icon and Splash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6B7A99"/>
                </a:solidFill>
                <a:latin typeface="Calibri"/>
              </a:rPr>
              <a:t>Findr looks like itself from the moment it is launched, rather than showing the default Flutter icon and a blank white window.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2066544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048256"/>
            <a:ext cx="5577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Custom launcher icon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290572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The Findr mark is generated into every screen density with flutter_launcher_icons, following Mini-Project 12.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2889504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871216"/>
            <a:ext cx="5577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Adaptive icon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113532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A separate foreground layer keeps the mark inside Android's safe area, so it survives being masked into a circle or a squircle.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3712463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694176"/>
            <a:ext cx="5577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Branded launch 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36491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The mark and wordmark sit on the app's own background colour, so there is no white flash before the first frame.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4535424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517136"/>
            <a:ext cx="5577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Android 12 splash screen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759452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Newer Android ignores the old launch background, so the platform splash API is configured separately.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5358383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5340096"/>
            <a:ext cx="5577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Application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5582412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The app presents itself as Findr on the launcher, the web manifest and the browser tab.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17436" y="1997964"/>
            <a:ext cx="1824693" cy="3849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2" name="Picture 21" descr="c9616296-0951-4739-a061-15df4c07adf7-1786284137000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2048256"/>
            <a:ext cx="1724109" cy="374903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93408" y="5916168"/>
            <a:ext cx="227274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The launch screen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40" y="2048256"/>
            <a:ext cx="2157984" cy="2157984"/>
          </a:xfrm>
          <a:prstGeom prst="roundRect">
            <a:avLst>
              <a:gd name="adj" fmla="val 5500"/>
            </a:avLst>
          </a:prstGeom>
          <a:solidFill>
            <a:srgbClr val="000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5" name="Picture 24" descr="Screenshot 2026-08-09 2200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2972" y="2669008"/>
            <a:ext cx="960120" cy="91647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464040" y="4315968"/>
            <a:ext cx="215798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6B7A99"/>
                </a:solidFill>
                <a:latin typeface="Calibri"/>
              </a:rPr>
              <a:t>On the device home screen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64040" y="4791456"/>
            <a:ext cx="2157984" cy="1005840"/>
          </a:xfrm>
          <a:prstGeom prst="roundRect">
            <a:avLst>
              <a:gd name="adj" fmla="val 55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92640" y="4992624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8FB4FF"/>
                </a:solidFill>
                <a:latin typeface="Calibri"/>
              </a:rPr>
              <a:t>APP NAME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5248656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Findr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8251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Findr  ·  Personalisation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46BE6"/>
                </a:solidFill>
                <a:latin typeface="Calibri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4213D"/>
                </a:solidFill>
                <a:latin typeface="Calibri"/>
              </a:rPr>
              <a:t>Architecture and 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6B7A99"/>
                </a:solidFill>
                <a:latin typeface="Calibri"/>
              </a:rPr>
              <a:t>Riverpod separates the interface from the logic, and several deliberate constraints keep the whole application on free services.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03120"/>
            <a:ext cx="32004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68096" y="2276856"/>
            <a:ext cx="292608" cy="292608"/>
          </a:xfrm>
          <a:prstGeom prst="roundRect">
            <a:avLst/>
          </a:prstGeom>
          <a:solidFill>
            <a:srgbClr val="24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07007" y="2221991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4213D"/>
                </a:solidFill>
                <a:latin typeface="Calibri"/>
              </a:rPr>
              <a:t>Screens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468879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A99"/>
                </a:solidFill>
                <a:latin typeface="Calibri"/>
              </a:rPr>
              <a:t>17 screens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084831" y="2761487"/>
            <a:ext cx="164592" cy="128016"/>
          </a:xfrm>
          <a:prstGeom prst="downArrow">
            <a:avLst/>
          </a:prstGeom>
          <a:solidFill>
            <a:srgbClr val="DF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2889503"/>
            <a:ext cx="32004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68096" y="3063239"/>
            <a:ext cx="292608" cy="292608"/>
          </a:xfrm>
          <a:prstGeom prst="roundRect">
            <a:avLst/>
          </a:prstGeom>
          <a:solidFill>
            <a:srgbClr val="6D4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07007" y="3008375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4213D"/>
                </a:solidFill>
                <a:latin typeface="Calibri"/>
              </a:rPr>
              <a:t>Providers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3255263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A99"/>
                </a:solidFill>
                <a:latin typeface="Calibri"/>
              </a:rPr>
              <a:t>Riverpod state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084831" y="3547872"/>
            <a:ext cx="164592" cy="128016"/>
          </a:xfrm>
          <a:prstGeom prst="downArrow">
            <a:avLst/>
          </a:prstGeom>
          <a:solidFill>
            <a:srgbClr val="DF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3675887"/>
            <a:ext cx="32004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68096" y="3849624"/>
            <a:ext cx="292608" cy="292608"/>
          </a:xfrm>
          <a:prstGeom prst="roundRect">
            <a:avLst/>
          </a:prstGeom>
          <a:solidFill>
            <a:srgbClr val="3E8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07007" y="3794759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4213D"/>
                </a:solidFill>
                <a:latin typeface="Calibri"/>
              </a:rPr>
              <a:t>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4164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A99"/>
                </a:solidFill>
                <a:latin typeface="Calibri"/>
              </a:rPr>
              <a:t>Firebase, AI, NETS, map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084831" y="4334255"/>
            <a:ext cx="164592" cy="128016"/>
          </a:xfrm>
          <a:prstGeom prst="downArrow">
            <a:avLst/>
          </a:prstGeom>
          <a:solidFill>
            <a:srgbClr val="DF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66928" y="4462272"/>
            <a:ext cx="32004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F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68096" y="4636008"/>
            <a:ext cx="292608" cy="292608"/>
          </a:xfrm>
          <a:prstGeom prst="round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07007" y="4581144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4213D"/>
                </a:solidFill>
                <a:latin typeface="Calibri"/>
              </a:rPr>
              <a:t>Cloud Firestore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7" y="482803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A99"/>
                </a:solidFill>
                <a:latin typeface="Calibri"/>
              </a:rPr>
              <a:t>4 collections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2121408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2103120"/>
            <a:ext cx="6949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Project 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2345436"/>
            <a:ext cx="6949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lib is divided into models, providers, screens, services, theme and widgets, with commented code throughout.</a:t>
            </a:r>
          </a:p>
        </p:txBody>
      </p:sp>
      <p:sp>
        <p:nvSpPr>
          <p:cNvPr id="28" name="Oval 27"/>
          <p:cNvSpPr/>
          <p:nvPr/>
        </p:nvSpPr>
        <p:spPr>
          <a:xfrm>
            <a:off x="4160520" y="2944368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2926079"/>
            <a:ext cx="6949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Riverpod state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168396"/>
            <a:ext cx="6949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StreamProvider for live reads, family providers for parameterised queries, autoDispose for temporary screens and a StateNotifier for the theme.</a:t>
            </a:r>
          </a:p>
        </p:txBody>
      </p:sp>
      <p:sp>
        <p:nvSpPr>
          <p:cNvPr id="31" name="Oval 30"/>
          <p:cNvSpPr/>
          <p:nvPr/>
        </p:nvSpPr>
        <p:spPr>
          <a:xfrm>
            <a:off x="4160520" y="3767327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3749039"/>
            <a:ext cx="6949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Images without paid storage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3991355"/>
            <a:ext cx="6949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Photos are compressed and stored as Base64 in Firestore, because Cloud Storage requires a billing account.</a:t>
            </a:r>
          </a:p>
        </p:txBody>
      </p:sp>
      <p:sp>
        <p:nvSpPr>
          <p:cNvPr id="34" name="Oval 33"/>
          <p:cNvSpPr/>
          <p:nvPr/>
        </p:nvSpPr>
        <p:spPr>
          <a:xfrm>
            <a:off x="4160520" y="4590288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4572000"/>
            <a:ext cx="6949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Alerts without paid messaging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814316"/>
            <a:ext cx="6949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Local notifications replace Firebase Cloud Messaging, which also needs the paid plan.</a:t>
            </a:r>
          </a:p>
        </p:txBody>
      </p:sp>
      <p:sp>
        <p:nvSpPr>
          <p:cNvPr id="37" name="Oval 36"/>
          <p:cNvSpPr/>
          <p:nvPr/>
        </p:nvSpPr>
        <p:spPr>
          <a:xfrm>
            <a:off x="4160520" y="5413248"/>
            <a:ext cx="310896" cy="3108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246BE6"/>
                </a:solidFill>
                <a:latin typeface="Calibr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5394960"/>
            <a:ext cx="6949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13D"/>
                </a:solidFill>
                <a:latin typeface="Calibri"/>
              </a:rPr>
              <a:t>No manual indexes required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5637276"/>
            <a:ext cx="6949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B7A99"/>
                </a:solidFill>
                <a:latin typeface="Calibri"/>
              </a:rPr>
              <a:t>Compound selections avoid the Firestore composite index requirement, so the app runs on a fresh project.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38251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Findr  ·  Engineering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9AA8C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463040" y="4206240"/>
            <a:ext cx="4937760" cy="4937760"/>
          </a:xfrm>
          <a:prstGeom prst="ellipse">
            <a:avLst/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966960" y="-1737360"/>
            <a:ext cx="5669280" cy="5669280"/>
          </a:xfrm>
          <a:prstGeom prst="ellipse">
            <a:avLst/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883664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Video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6766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B8CBEE"/>
                </a:solidFill>
                <a:latin typeface="Calibri"/>
              </a:rPr>
              <a:t>A recorded walkthrough of Findr, five minutes maximum, as required by the project specification.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529584"/>
            <a:ext cx="6766560" cy="1060704"/>
          </a:xfrm>
          <a:prstGeom prst="roundRect">
            <a:avLst>
              <a:gd name="adj" fmla="val 5500"/>
            </a:avLst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841247" y="3767328"/>
            <a:ext cx="566928" cy="566928"/>
          </a:xfrm>
          <a:prstGeom prst="ellipse">
            <a:avLst/>
          </a:prstGeom>
          <a:solidFill>
            <a:srgbClr val="E6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sosceles Triangle 9"/>
          <p:cNvSpPr/>
          <p:nvPr/>
        </p:nvSpPr>
        <p:spPr>
          <a:xfrm rot="5400000">
            <a:off x="1042416" y="3922776"/>
            <a:ext cx="219456" cy="256032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91056" y="3712463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8FB4FF"/>
                </a:solidFill>
                <a:latin typeface="Calibri"/>
              </a:rPr>
              <a:t>YOUTUBE 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968496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1600" b="1" dirty="0">
                <a:solidFill>
                  <a:srgbClr val="FFFFFF"/>
                </a:solidFill>
              </a:rPr>
              <a:t>https://youtu.be/EPEnVfJLQjo</a:t>
            </a:r>
            <a:endParaRPr sz="1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928" y="484632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E93BC"/>
                </a:solidFill>
                <a:latin typeface="Calibri"/>
              </a:rPr>
              <a:t>THE RECORDING COVERS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138928"/>
            <a:ext cx="6949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dirty="0">
                <a:solidFill>
                  <a:srgbClr val="B8CBEE"/>
                </a:solidFill>
                <a:latin typeface="Calibri"/>
              </a:rPr>
              <a:t>Sign in · post a report with a map pin · run an AI search · submit and accept a claim · pay and release a NETS QR reward · switch theme and dark mode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2298</Words>
  <Application>Microsoft Office PowerPoint</Application>
  <PresentationFormat>Widescreen</PresentationFormat>
  <Paragraphs>351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MOHAMMED HANNAN NOOR</cp:lastModifiedBy>
  <cp:revision>4</cp:revision>
  <dcterms:created xsi:type="dcterms:W3CDTF">2013-01-27T09:14:16Z</dcterms:created>
  <dcterms:modified xsi:type="dcterms:W3CDTF">2026-08-09T18:12:24Z</dcterms:modified>
  <cp:category/>
</cp:coreProperties>
</file>